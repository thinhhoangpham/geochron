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GeoChron × Texas PMIS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Adapting a Storyline visualization paper to real pavement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3159252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What the paper proposed, what we kept, what we had to change, and why — a walkthrough of the cohort-based pavement trajectory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1 · The paper's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GeoChron's Storyline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5304434"/>
          </a:xfrm>
          <a:prstGeom prst="rect">
            <a:avLst/>
          </a:prstGeom>
          <a:solidFill>
            <a:srgbClr val="262A33"/>
          </a:solidFill>
          <a:ln w="19050">
            <a:solidFill>
              <a:srgbClr val="7F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D1FF"/>
                </a:solidFill>
              </a:rPr>
              <a:t>PAPER</a:t>
            </a:r>
          </a:p>
          <a:p>
            <a:r>
              <a:rPr sz="1500">
                <a:solidFill>
                  <a:srgbClr val="CFD3DA"/>
                </a:solidFill>
              </a:rPr>
              <a:t>Treat each spatiotemporal (ST) series (an entity over time) as a "character," and a group of series moving together as a Storyline session — the same analogy classic Storyline visualizations use for characters interacting in a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297826"/>
            <a:ext cx="10972800" cy="8858707"/>
          </a:xfrm>
          <a:prstGeom prst="rect">
            <a:avLst/>
          </a:prstGeom>
          <a:solidFill>
            <a:srgbClr val="262A33"/>
          </a:solidFill>
          <a:ln w="19050">
            <a:solidFill>
              <a:srgbClr val="7F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D1FF"/>
                </a:solidFill>
              </a:rPr>
              <a:t>PAPER</a:t>
            </a:r>
          </a:p>
          <a:p>
            <a:r>
              <a:rPr sz="1500">
                <a:solidFill>
                  <a:srgbClr val="CFD3DA"/>
                </a:solidFill>
              </a:rPr>
              <a:t>Pipeline per time slice: (1) split time into slices, (2) correlate every pair of series within a slice, (3) intersect correlation with spatial proximity to build a relation network, (4) run Louvain community detection on that network — each community = one session, (5) lay sessions out with a StoryFlow-style layout, (6) drill down with an EvoLens showing per-entity trends and a normalized "trend motif."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2 · Our adaptation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Texas PMIS pavement condition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2906877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The paper's data: dense, regularly-sampled ST series; clean single-day time slices; coordinates available for every 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900269"/>
            <a:ext cx="10972800" cy="3537813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Our data (PMIS): ~14,810 half-mile road segments, 1996–2024; annual condition scores, sparse and gappy; begin_dfo/end_dfo coordinates empty for our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02674"/>
            <a:ext cx="10972800" cy="2507284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Same underlying idea, a very different data reality — this drove every adaptation decision that 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3 · Adaptation: time slice → sliding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Step 4: multi-year sliding windows replace single-day slices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2591409"/>
          </a:xfrm>
          <a:prstGeom prst="rect">
            <a:avLst/>
          </a:prstGeom>
          <a:solidFill>
            <a:srgbClr val="262A33"/>
          </a:solidFill>
          <a:ln w="19050">
            <a:solidFill>
              <a:srgbClr val="FF9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FF9D7F"/>
                </a:solidFill>
              </a:rPr>
              <a:t>DIFFERENT</a:t>
            </a:r>
          </a:p>
          <a:p>
            <a:r>
              <a:rPr sz="1500">
                <a:solidFill>
                  <a:srgbClr val="CFD3DA"/>
                </a:solidFill>
              </a:rPr>
              <a:t>Paper: a time slice is a single day; a time window wraps three consecutive slices for cross-slice smoothing.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84801"/>
            <a:ext cx="10972800" cy="4715560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Ours: annual sampling can't support a single-day slice. We use one W=5-year sliding window, stepped by 1 year (1996–2024 → 25 windows). The window overlap gives us the paper's cross-slice smoothing "for free."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464953"/>
            <a:ext cx="10972800" cy="1666036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Called out in procedure.md as the one non-negotiable adaptation.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4 · Adaptation: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Step 3: preserve gaps, never interpolate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3516782"/>
          </a:xfrm>
          <a:prstGeom prst="rect">
            <a:avLst/>
          </a:prstGeom>
          <a:solidFill>
            <a:srgbClr val="262A33"/>
          </a:solidFill>
          <a:ln w="19050">
            <a:solidFill>
              <a:srgbClr val="FF9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FF9D7F"/>
                </a:solidFill>
              </a:rPr>
              <a:t>DIFFERENT</a:t>
            </a:r>
          </a:p>
          <a:p>
            <a:r>
              <a:rPr sz="1500">
                <a:solidFill>
                  <a:srgbClr val="CFD3DA"/>
                </a:solidFill>
              </a:rPr>
              <a:t>With sparse annual sampling, an interpolated point can be a large fraction of a segment's signal — enough to manufacture a trend the pavement never had.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10174"/>
            <a:ext cx="10972800" cy="4210812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Our rule: leave missing years empty in the section×year matrix. Handle gaps only at correlation time (pairwise-complete Pearson, minimum overlap required) — never by fabricating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5 · Adaptation: proximity without coordinates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Step 8–9: (roadbed, county) instead of geographic radius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Same highway within a reference-marker distance, OR same district / within a haversine radius (cross-route corridor effects)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Same roadbed AND county — a proxy, since real lat/long isn't populated in this dataset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3520440"/>
            <a:ext cx="10972800" cy="5535777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The biggest known simplification in the pipeline: cohorts can only be found within one highway/county pair, never spanning two different but nearby highways. Flagged in PROGRESS.md as the first thing to revisit if real coordinates become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6 · Straight reuse (no change needed)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we kept exactly as the paper describes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2843784"/>
          </a:xfrm>
          <a:prstGeom prst="rect">
            <a:avLst/>
          </a:prstGeom>
          <a:solidFill>
            <a:srgbClr val="262A33"/>
          </a:solidFill>
          <a:ln w="19050">
            <a:solidFill>
              <a:srgbClr val="7F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D1FF"/>
                </a:solidFill>
              </a:rPr>
              <a:t>PAPER</a:t>
            </a:r>
          </a:p>
          <a:p>
            <a:r>
              <a:rPr sz="1500">
                <a:solidFill>
                  <a:srgbClr val="CFD3DA"/>
                </a:solidFill>
              </a:rPr>
              <a:t>Step 6–7 — correlation + thresholding: pairwise-complete Pearson per window, reduced to a binary yes/no edge at THR=0.7.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837176"/>
            <a:ext cx="10972800" cy="3096158"/>
          </a:xfrm>
          <a:prstGeom prst="rect">
            <a:avLst/>
          </a:prstGeom>
          <a:solidFill>
            <a:srgbClr val="262A33"/>
          </a:solidFill>
          <a:ln w="19050">
            <a:solidFill>
              <a:srgbClr val="7F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D1FF"/>
                </a:solidFill>
              </a:rPr>
              <a:t>PAPER</a:t>
            </a:r>
          </a:p>
          <a:p>
            <a:r>
              <a:rPr sz="1500">
                <a:solidFill>
                  <a:srgbClr val="CFD3DA"/>
                </a:solidFill>
              </a:rPr>
              <a:t>Step 10 — Louvain community detection, run on the intersection of correlation and proximity edges; identical mechanism to the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097926"/>
            <a:ext cx="10972800" cy="3054096"/>
          </a:xfrm>
          <a:prstGeom prst="rect">
            <a:avLst/>
          </a:prstGeom>
          <a:solidFill>
            <a:srgbClr val="262A33"/>
          </a:solidFill>
          <a:ln w="19050">
            <a:solidFill>
              <a:srgbClr val="7F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D1FF"/>
                </a:solidFill>
              </a:rPr>
              <a:t>PAPER</a:t>
            </a:r>
          </a:p>
          <a:p>
            <a:r>
              <a:rPr sz="1500">
                <a:solidFill>
                  <a:srgbClr val="CFD3DA"/>
                </a:solidFill>
              </a:rPr>
              <a:t>Step 11–12 — session filtering + cross-window tracking by largest membership overlap, producing the Storyline's continuity curves.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6b · How much survives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funnel: from 41,314 raw sections to storyline_data.json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Kept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Filtered out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Step 2 — needs ≥10 years of real data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14,812 sections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26,502 dropped (64%)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Step 6+7 — correlated pairs (r&gt;0.7), all windows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82,574,973 edges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— (already a small slice of all possible pairs)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Step 8+9 — intersect with (roadbed, county) proximity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506,905 edges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82,068,068 dropped (99.4%)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Step 10 — raw Louvain communities, all windows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118,675 communities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Step 11 — sessions ≥ size 5 (or rescued by a neighbor window)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24,408 sessions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94,267 dropped (79%)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349240"/>
            <a:ext cx="10972800" cy="5430621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Biggest single filter: Step 8/9's spatial proximity rule discards 99.4% of correlated pairs for not sharing a highway+county. Second biggest: Step 2's ≥10-year data requirement removes 64% of sections statewide before the pipeline even starts.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44453"/>
            <a:ext cx="10972800" cy="4505248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Net: 14,810 of 41,314 raw sections (36%) ever appear in storyline_data.json at all — and even among those, many appear only as unaffiliated singletons in a given window rather than in a kept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7 · Adaptation: normalization, deferred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Step 5: skipped for correlation, used later for EvoLens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4000500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Pearson correlation is provably invariant to shift/scale, so Step 5's normalization is mathematically redundant for the correlation math — we skip it there and use raw scores.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93892"/>
            <a:ext cx="10972800" cy="2759659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Normalization (z-score) is applied live, on demand, in the EvoLens trend motif — where the paper genuinely needs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8 · Visualization — Level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Storyline rendering: window = span, not a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4294936"/>
          </a:xfrm>
          <a:prstGeom prst="rect">
            <a:avLst/>
          </a:prstGeom>
          <a:solidFill>
            <a:srgbClr val="262A33"/>
          </a:solidFill>
          <a:ln w="19050">
            <a:solidFill>
              <a:srgbClr val="FF9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FF9D7F"/>
                </a:solidFill>
              </a:rPr>
              <a:t>DIFFERENT</a:t>
            </a:r>
          </a:p>
          <a:p>
            <a:r>
              <a:rPr sz="1500">
                <a:solidFill>
                  <a:srgbClr val="CFD3DA"/>
                </a:solidFill>
              </a:rPr>
              <a:t>Early prototype (wrong): each window drawn as a single point; single-window memberships rendered as meaningless dots; anchor/interpolation logic produced artificial spikes into empty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88328"/>
            <a:ext cx="10972800" cy="4315968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Current, paper-faithful: each window is a full-width bar (a span), windows connected by a thinner Bézier curve. Layout uses per-window barycenter-sweep ordering with no anchor points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9 · Visualization — engineering, not paper-driven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WebGL rendering (a practical addition, not from the paper)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3075127"/>
          </a:xfrm>
          <a:prstGeom prst="rect">
            <a:avLst/>
          </a:prstGeom>
          <a:solidFill>
            <a:srgbClr val="262A33"/>
          </a:solidFill>
          <a:ln w="19050">
            <a:solidFill>
              <a:srgbClr val="FF9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FF9D7F"/>
                </a:solidFill>
              </a:rPr>
              <a:t>DIFFERENT</a:t>
            </a:r>
          </a:p>
          <a:p>
            <a:r>
              <a:rPr sz="1500">
                <a:solidFill>
                  <a:srgbClr val="CFD3DA"/>
                </a:solidFill>
              </a:rPr>
              <a:t>The paper doesn't specify a rendering technology. Our first D3/SVG implementation became too slow at ~14,810 segments × 25 windows.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68519"/>
            <a:ext cx="10972800" cy="4484217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Our addition: hybrid renderer — WebGL for bulk bar/connector geometry (chunked draw calls to dodge a GPU driver limit), plus a transparent 2D canvas overlay for text, hover highlighting, and labels.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10 · Visualization —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EvoLens drill-down: brush-select, not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5893307"/>
          </a:xfrm>
          <a:prstGeom prst="rect">
            <a:avLst/>
          </a:prstGeom>
          <a:solidFill>
            <a:srgbClr val="262A33"/>
          </a:solidFill>
          <a:ln w="19050">
            <a:solidFill>
              <a:srgbClr val="7F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D1FF"/>
                </a:solidFill>
              </a:rPr>
              <a:t>PAPER</a:t>
            </a:r>
          </a:p>
          <a:p>
            <a:r>
              <a:rPr sz="1500">
                <a:solidFill>
                  <a:srgbClr val="CFD3DA"/>
                </a:solidFill>
              </a:rPr>
              <a:t>The paper's actual mechanism: brush a rectangle on the Storyline to select a time period + sessions, opening a lens with per-entity line charts of the real trend, plus a trend motif (z-score within the brushed range → lower quartile / median / upper quartile band).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886699"/>
            <a:ext cx="10972800" cy="2654503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We initially built this as a click interaction; corrected to brush-select once verified against the paper 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11 · Display-only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Grouping re-keyed to (roadbed, county)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4463186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Sessions were already correctly scoped to one (roadbed, county) pair (Step 8/9). But the Storyline's visual bands were originally grouped by roadbed alone, mixing counties a highway passes 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56578"/>
            <a:ext cx="10972800" cy="3790187"/>
          </a:xfrm>
          <a:prstGeom prst="rect">
            <a:avLst/>
          </a:prstGeom>
          <a:solidFill>
            <a:srgbClr val="262A33"/>
          </a:solidFill>
          <a:ln w="19050">
            <a:solidFill>
              <a:srgbClr val="7F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100" b="1">
                <a:solidFill>
                  <a:srgbClr val="7FFFA0"/>
                </a:solidFill>
              </a:rPr>
              <a:t>ADAPTED</a:t>
            </a:r>
          </a:p>
          <a:p>
            <a:r>
              <a:rPr sz="1500">
                <a:solidFill>
                  <a:srgbClr val="CFD3DA"/>
                </a:solidFill>
              </a:rPr>
              <a:t>Fix: re-keyed export_storyline_data.py's band grouping to (roadbed, county) tuples: 722 → 1,112 bands. No session/track validity changed — only the display grouping.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Segoe UI"/>
              </a:rPr>
              <a:t>12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Same paper, different data reality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Kept exactly as the paper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Adapted for our data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7FD1FF"/>
                          </a:solidFill>
                        </a:rPr>
                        <a:t>Not in the paper (engineering)</a:t>
                      </a:r>
                    </a:p>
                  </a:txBody>
                  <a:tcPr>
                    <a:solidFill>
                      <a:srgbClr val="262A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Correlation → threshold → Louvain → session filter → cross-window tracking → brush-select EvoLens → trend motif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Time slice → 5-yr sliding window · gaps preserved not interpolated · proximity via (roadbed, county) proxy · normalization deferred to EvoLens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FD3DA"/>
                          </a:solidFill>
                        </a:rPr>
                        <a:t>WebGL/canvas hybrid rendering · JSON data-export + static JS front-end architecture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3520440"/>
            <a:ext cx="10972800" cy="5788151"/>
          </a:xfrm>
          <a:prstGeom prst="rect">
            <a:avLst/>
          </a:prstGeom>
          <a:solidFill>
            <a:srgbClr val="262A33"/>
          </a:solidFill>
          <a:ln w="19050">
            <a:solidFill>
              <a:srgbClr val="383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CFD3DA"/>
                </a:solidFill>
              </a:rPr>
              <a:t>Open items: Step 13 (treatment-event detection), Step 14 (validation against ground truth), Step 15 (formal run-scope decision), the paper's linked geographic map (blocked on missing coordinates), and independent confirmation of the score-direction convention.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